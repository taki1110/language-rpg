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103120"/>
            <a:ext cx="85340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37744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Hiragino Sans"/>
              </a:defRPr>
            </a:pPr>
            <a:r>
              <a:t>株式会社エイジレス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66160"/>
            <a:ext cx="12191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4AF37"/>
                </a:solidFill>
              </a:defRPr>
            </a:pPr>
            <a:r>
              <a:t>A G E L E S S   I N C 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4206240"/>
            <a:ext cx="85340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FBF0D5"/>
                </a:solidFill>
              </a:defRPr>
            </a:pPr>
            <a:r>
              <a:t>年齢を超えた価値創造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会社概要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D4AF37"/>
                </a:solidFill>
              </a:defRPr>
            </a:pPr>
            <a:r>
              <a:t>COMPANY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7619695" cy="6858000"/>
          </a:xfrm>
          <a:prstGeom prst="rect">
            <a:avLst/>
          </a:prstGeom>
          <a:solidFill>
            <a:srgbClr val="FE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0" y="731520"/>
            <a:ext cx="670529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9144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ミッション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371600"/>
            <a:ext cx="5943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475569"/>
                </a:solidFill>
              </a:defRPr>
            </a:pPr>
            <a:r>
              <a:t>年齢にとらわれない価値の創造を使命とし、テクノロジーと人間性の融合により、すべての世代が活躍できる社会の実現を目指す。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3017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設立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0175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20XX年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3429000"/>
            <a:ext cx="5943600" cy="127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3749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従業員数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7490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XX名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4160520"/>
            <a:ext cx="5943600" cy="127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44805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資本金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480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X,XXX万円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4892040"/>
            <a:ext cx="5943600" cy="127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5212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本社所在地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5212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東京都XXX区XXX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0" y="5623560"/>
            <a:ext cx="5943600" cy="127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20040"/>
            <a:ext cx="12191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ビジョン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828800"/>
            <a:ext cx="8534095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1828800"/>
            <a:ext cx="8534095" cy="76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2286000"/>
            <a:ext cx="7619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0">
                <a:solidFill>
                  <a:srgbClr val="475569"/>
                </a:solidFill>
              </a:defRPr>
            </a:pPr>
            <a:r>
              <a:t>年齢という境界を超え、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834640"/>
            <a:ext cx="7619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0">
                <a:solidFill>
                  <a:srgbClr val="475569"/>
                </a:solidFill>
              </a:defRPr>
            </a:pPr>
            <a:r>
              <a:t>すべての人が可能性を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383280"/>
            <a:ext cx="7619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0">
                <a:solidFill>
                  <a:srgbClr val="475569"/>
                </a:solidFill>
              </a:defRPr>
            </a:pPr>
            <a:r>
              <a:t>最大限に発揮できる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931920"/>
            <a:ext cx="7619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F172A"/>
                </a:solidFill>
              </a:defRPr>
            </a:pPr>
            <a:r>
              <a:t>世界の創造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5486400"/>
            <a:ext cx="1645920" cy="457200"/>
          </a:xfrm>
          <a:prstGeom prst="roundRect">
            <a:avLst/>
          </a:prstGeom>
          <a:solidFill>
            <a:srgbClr val="FBF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55321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F172A"/>
                </a:solidFill>
              </a:defRPr>
            </a:pPr>
            <a:r>
              <a:t>#多様性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5486400"/>
            <a:ext cx="1645920" cy="457200"/>
          </a:xfrm>
          <a:prstGeom prst="roundRect">
            <a:avLst/>
          </a:prstGeom>
          <a:solidFill>
            <a:srgbClr val="FBF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55321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F172A"/>
                </a:solidFill>
              </a:defRPr>
            </a:pPr>
            <a:r>
              <a:t>#イノベーション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5486400"/>
            <a:ext cx="1645920" cy="457200"/>
          </a:xfrm>
          <a:prstGeom prst="roundRect">
            <a:avLst/>
          </a:prstGeom>
          <a:solidFill>
            <a:srgbClr val="FBF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55321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F172A"/>
                </a:solidFill>
              </a:defRPr>
            </a:pPr>
            <a:r>
              <a:t>#持続可能性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65760"/>
            <a:ext cx="12191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事業内容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754880"/>
          </a:xfrm>
          <a:prstGeom prst="roundRect">
            <a:avLst/>
          </a:prstGeom>
          <a:solidFill>
            <a:srgbClr val="FE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11680" y="2011680"/>
            <a:ext cx="914400" cy="9144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219456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デジタル変革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300">
                <a:solidFill>
                  <a:srgbClr val="475569"/>
                </a:solidFill>
              </a:defRPr>
            </a:pPr>
            <a:r>
              <a:t>AI・クラウド・データ分析など最新技術を活用し、企業のビジネスプロセスを根本から変革します。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645920"/>
            <a:ext cx="3474720" cy="4754880"/>
          </a:xfrm>
          <a:prstGeom prst="roundRect">
            <a:avLst/>
          </a:prstGeom>
          <a:solidFill>
            <a:srgbClr val="FE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0" y="2011680"/>
            <a:ext cx="914400" cy="9144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219456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D4AF37"/>
                </a:solidFill>
              </a:defRPr>
            </a:pPr>
            <a:r>
              <a:t>人材開発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8404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300">
                <a:solidFill>
                  <a:srgbClr val="475569"/>
                </a:solidFill>
              </a:defRPr>
            </a:pPr>
            <a:r>
              <a:t>多世代が学び合う共生型の人材育成プログラムで、組織の持続的成長を支援します。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645920"/>
            <a:ext cx="3474720" cy="4754880"/>
          </a:xfrm>
          <a:prstGeom prst="roundRect">
            <a:avLst/>
          </a:prstGeom>
          <a:solidFill>
            <a:srgbClr val="FE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0" y="2011680"/>
            <a:ext cx="914400" cy="914400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219456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2004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475569"/>
                </a:solidFill>
              </a:defRPr>
            </a:pPr>
            <a:r>
              <a:t>グローバル展開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8404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300">
                <a:solidFill>
                  <a:srgbClr val="475569"/>
                </a:solidFill>
              </a:defRPr>
            </a:pPr>
            <a:r>
              <a:t>言語と文化の壁を超えたグローバルビジネス支援で、世界市場での成功を目指します。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私たちの強み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4AF37"/>
                </a:solidFill>
              </a:defRPr>
            </a:pPr>
            <a:r>
              <a:t>OUR STRENGTHS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8463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1031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多様な世代の知見を</a:t>
            </a:r>
          </a:p>
          <a:p>
            <a:r>
              <a:t>活かしたイノベーション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2608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B4B4"/>
                </a:solidFill>
              </a:defRPr>
            </a:pPr>
            <a:r>
              <a:t>20年以上の実務経験を持つベテランと、最新技術に精通した若手が協働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48463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1031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0" y="21031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最新テクノロジーと</a:t>
            </a:r>
          </a:p>
          <a:p>
            <a:r>
              <a:t>実務経験の融合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92608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B4B4"/>
                </a:solidFill>
              </a:defRPr>
            </a:pPr>
            <a:r>
              <a:t>理論と実践のバランスを取れたソリューションを提供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14800"/>
            <a:ext cx="48463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3891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3891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お客様に寄り添う</a:t>
            </a:r>
          </a:p>
          <a:p>
            <a:r>
              <a:t>柔軟な対応力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21208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B4B4"/>
                </a:solidFill>
              </a:defRPr>
            </a:pPr>
            <a:r>
              <a:t>大手にはない機動力で、お客様のニーズに迅速に対応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114800"/>
            <a:ext cx="48463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3891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43891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持続可能な社会への</a:t>
            </a:r>
          </a:p>
          <a:p>
            <a:r>
              <a:t>貢献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21208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B4B4"/>
                </a:solidFill>
              </a:defRPr>
            </a:pPr>
            <a:r>
              <a:t>SDGsの達成に向けた取り組みを事業の核に据える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お問い合わせ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AF37"/>
                </a:solidFill>
              </a:defRPr>
            </a:pPr>
            <a:r>
              <a:t>CONTACT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371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会社名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691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株式会社エイジレス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286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所在地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6060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〒XXX-XXXX 東京都XXX区XXX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200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TEL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520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03-XXXX-XXXX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114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44348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info@ageless.co.jp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5029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53492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www.ageless.co.jp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59436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75569"/>
                </a:solidFill>
              </a:defRPr>
            </a:pPr>
            <a:r>
              <a:t>ご連絡お待ちしております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